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9" r:id="rId3"/>
    <p:sldId id="257" r:id="rId4"/>
    <p:sldId id="259" r:id="rId5"/>
    <p:sldId id="270" r:id="rId6"/>
    <p:sldId id="260" r:id="rId7"/>
    <p:sldId id="271" r:id="rId8"/>
    <p:sldId id="261" r:id="rId9"/>
    <p:sldId id="262" r:id="rId10"/>
    <p:sldId id="274" r:id="rId11"/>
    <p:sldId id="272" r:id="rId12"/>
    <p:sldId id="265" r:id="rId13"/>
    <p:sldId id="263" r:id="rId14"/>
    <p:sldId id="264" r:id="rId15"/>
    <p:sldId id="266" r:id="rId16"/>
    <p:sldId id="267" r:id="rId17"/>
    <p:sldId id="268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BCF6"/>
    <a:srgbClr val="7A34AE"/>
    <a:srgbClr val="934BC9"/>
    <a:srgbClr val="C26CBE"/>
    <a:srgbClr val="C16DBB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3545E-9CF3-422C-8E8A-267D08ACE8CA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6B255-FE75-4031-B8CE-DCA04D5EB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9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6B255-FE75-4031-B8CE-DCA04D5EB65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86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6B255-FE75-4031-B8CE-DCA04D5EB65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6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E76C-9ACC-FA68-B672-228C7BB25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41DE6-589A-D1F7-5258-409AFB7F0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D159A-EA27-6923-BDF1-8595F11C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7A680-FB25-F522-C684-E6CEBC1F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1733B-61FA-86BA-24A6-B3655269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97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4740-768C-53B8-B682-18FA6F1C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55FD-6D6A-902B-03F3-C0722E832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9D57F-9345-915C-1825-2B0799D9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7A91-338D-BD1F-9AEC-54F20F5B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0D7D3-9CD1-BEDF-0209-18B05758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69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E04F-577C-B372-46CF-76BBCDFA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C44FD-34D8-7CCE-5288-7B73BF00A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0C25C-B549-CB00-B468-791659F6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52FD9-5323-6AB2-021A-D4517918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CFA53-6BCC-EB6E-9DFF-E26B49C0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30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C047-C1E0-BC00-FA1F-4EED0298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7BA9-2D3F-BA34-E19A-D5472CC1F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13A5D-03F4-8297-23CA-60E3DCEDA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F5920-1940-71D2-AD08-DD742F1F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14E85-CFFD-A17B-F6F8-DE69CE70A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7B8F3-39F2-F88F-92AE-CAB9991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88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C0CF-F86C-9A77-7A60-56643933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CA290-6822-57E8-075A-A10A472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BFE54-5975-7083-9E6E-7677A31C2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D3E8C-989A-4EE6-0946-E99066C69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7800C-FBD7-8ED6-A2D8-355D7B8E4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D27D6-B08E-BA8F-EE90-C2F1B2F4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96B5E-D877-3C69-CA8B-283E6651C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8548F-7065-A689-C64D-C2EB5BC2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1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0356-1F11-DF03-334D-93760C1E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68955-89C9-BA9A-62E9-DE890477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50B15-CEB2-E1A9-85D2-39AB39E1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EEDEF-4628-C879-621A-44D84812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21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0D41B-740A-399B-4FF4-A715A7F3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858A5-9CE3-E7AF-1155-4E65F04E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A9FFA-7A10-2CB0-8CE7-B41E56F4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5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4388-A304-D941-8929-574CB504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8259C-D03E-0E12-75ED-64FF8734B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0EBB9-FFB5-4D65-D22E-F978E5C52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64CA4-364B-9AF3-801E-42437565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4711D-1BED-DF92-E641-D5EE8C150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419D3-B03E-EFC0-02FA-BC784B17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44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5F20-947C-C403-90DA-E1800616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563B6-1BD1-C11A-481C-9AC8643A3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8D967-F292-5C8F-A243-F660DA455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C8A1E-F9AA-90BF-0820-7E182DA4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1EAB7-5E3D-7D0A-34EB-C3E5C92D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6A39B-0549-B635-3422-FA442F69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3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C0DF-C205-B734-21E0-D66E0C91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E5C96-57DD-C237-90CC-CE41887C5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3CCA-D661-3B19-C059-133AB9E0D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767D-2021-7971-64A8-8C2367AB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2E7B9-6793-FAA8-AC04-87908954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13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C14E9-2C1E-D52A-6E28-E34FF89B7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03517-B4D3-9212-18F5-E968D0032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A402F-9A00-CBF0-A0C6-96EFB5DD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57CAE-F4F2-8343-E677-2705212A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09BF-6488-6D58-08B9-B9D5F155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29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rgbClr val="7030A0">
                <a:alpha val="90000"/>
              </a:srgbClr>
            </a:gs>
            <a:gs pos="99000">
              <a:srgbClr val="C16DB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B73CD-121D-65EE-93A0-7EB2E768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96098-FDB6-B6A1-CADF-B45194B91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0F83-F53E-788C-B695-80A74D50F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7C410-1DC7-4E09-BA28-3E491CF90387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8603B-6E9E-BD0E-D2A7-356CBB1B4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E88B-E034-BF80-23FC-CCC03FBD9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DABE3-4C61-470F-9904-682083DA3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hajade03/-E-Commerce-Sales-Analysis/blob/main/E-commerce%20analysis%20%20vba%20code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BFD3-EB36-065C-3B03-71B95A163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540" y="2640028"/>
            <a:ext cx="9668919" cy="8959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Elephant" panose="02020904090505020303" pitchFamily="18" charset="0"/>
              </a:rPr>
              <a:t>E-Commerce Sales Analysis </a:t>
            </a:r>
            <a:endParaRPr lang="en-IN" b="1" dirty="0">
              <a:solidFill>
                <a:schemeClr val="bg1"/>
              </a:solidFill>
              <a:latin typeface="Elephant" panose="020209040905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7266CC-8A40-77A2-357D-348D90506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489" y="3617844"/>
            <a:ext cx="4084302" cy="256647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F0C0D91-B0E1-6870-5117-D23E6978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12" y="3617844"/>
            <a:ext cx="3671992" cy="2566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654202-FF79-49E3-7355-3BDD49A65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032" y="246923"/>
            <a:ext cx="2808655" cy="18771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2C7043-C02A-4734-4D23-C2EC290D9A9E}"/>
              </a:ext>
            </a:extLst>
          </p:cNvPr>
          <p:cNvSpPr txBox="1"/>
          <p:nvPr/>
        </p:nvSpPr>
        <p:spPr>
          <a:xfrm>
            <a:off x="10376452" y="6152322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 - Presented By</a:t>
            </a:r>
          </a:p>
          <a:p>
            <a:pPr algn="ctr"/>
            <a:r>
              <a:rPr lang="en-IN" dirty="0"/>
              <a:t>Neha Jade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0643FD-9B66-B7D0-1EE5-080783F23662}"/>
              </a:ext>
            </a:extLst>
          </p:cNvPr>
          <p:cNvSpPr/>
          <p:nvPr/>
        </p:nvSpPr>
        <p:spPr>
          <a:xfrm>
            <a:off x="0" y="-8292"/>
            <a:ext cx="12192000" cy="686629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9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1B1A6FB-2196-103D-4FA1-7BDFB78270CD}"/>
              </a:ext>
            </a:extLst>
          </p:cNvPr>
          <p:cNvSpPr/>
          <p:nvPr/>
        </p:nvSpPr>
        <p:spPr>
          <a:xfrm>
            <a:off x="3571458" y="2358885"/>
            <a:ext cx="1848678" cy="940901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Business Problem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D2434E8D-D671-8182-46CC-841C61253782}"/>
              </a:ext>
            </a:extLst>
          </p:cNvPr>
          <p:cNvSpPr/>
          <p:nvPr/>
        </p:nvSpPr>
        <p:spPr>
          <a:xfrm>
            <a:off x="5847527" y="2368818"/>
            <a:ext cx="1848678" cy="940901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Data Overview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0007AC2B-A47D-E568-DC09-52C138D0D99F}"/>
              </a:ext>
            </a:extLst>
          </p:cNvPr>
          <p:cNvSpPr/>
          <p:nvPr/>
        </p:nvSpPr>
        <p:spPr>
          <a:xfrm>
            <a:off x="1311952" y="3910216"/>
            <a:ext cx="1848678" cy="962433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Analysis with Excel Formulae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7614DC5-0734-12A5-2726-E8AAD4EB6B0D}"/>
              </a:ext>
            </a:extLst>
          </p:cNvPr>
          <p:cNvSpPr/>
          <p:nvPr/>
        </p:nvSpPr>
        <p:spPr>
          <a:xfrm>
            <a:off x="3571458" y="3924223"/>
            <a:ext cx="1848678" cy="962433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Dashboard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42EBD30-9E2F-B9A9-7E76-DFE4E49FD67F}"/>
              </a:ext>
            </a:extLst>
          </p:cNvPr>
          <p:cNvSpPr/>
          <p:nvPr/>
        </p:nvSpPr>
        <p:spPr>
          <a:xfrm>
            <a:off x="1311952" y="2358884"/>
            <a:ext cx="1848678" cy="940901"/>
          </a:xfrm>
          <a:prstGeom prst="flowChartAlternateProcess">
            <a:avLst/>
          </a:prstGeom>
          <a:solidFill>
            <a:srgbClr val="7A34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Project Goals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A275816C-D64A-E6FF-5212-30A5421782DC}"/>
              </a:ext>
            </a:extLst>
          </p:cNvPr>
          <p:cNvSpPr/>
          <p:nvPr/>
        </p:nvSpPr>
        <p:spPr>
          <a:xfrm>
            <a:off x="5910470" y="3910216"/>
            <a:ext cx="1848678" cy="976440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Insights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B86D5A50-C0AE-0C91-CB0B-259044E24C19}"/>
              </a:ext>
            </a:extLst>
          </p:cNvPr>
          <p:cNvSpPr/>
          <p:nvPr/>
        </p:nvSpPr>
        <p:spPr>
          <a:xfrm>
            <a:off x="8169976" y="3896209"/>
            <a:ext cx="1848678" cy="976440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Suggestions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890D7E-989B-0873-3D08-147E1F96C599}"/>
              </a:ext>
            </a:extLst>
          </p:cNvPr>
          <p:cNvSpPr txBox="1"/>
          <p:nvPr/>
        </p:nvSpPr>
        <p:spPr>
          <a:xfrm>
            <a:off x="3996489" y="820533"/>
            <a:ext cx="3978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Table of Content</a:t>
            </a: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0A66E716-35C5-6442-1601-6993893F72F1}"/>
              </a:ext>
            </a:extLst>
          </p:cNvPr>
          <p:cNvSpPr/>
          <p:nvPr/>
        </p:nvSpPr>
        <p:spPr>
          <a:xfrm>
            <a:off x="8107033" y="2368818"/>
            <a:ext cx="1848678" cy="940901"/>
          </a:xfrm>
          <a:prstGeom prst="flowChartAlternateProcess">
            <a:avLst/>
          </a:prstGeom>
          <a:solidFill>
            <a:srgbClr val="7A34AE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Franklin Gothic Medium" panose="020B0603020102020204" pitchFamily="34" charset="0"/>
              </a:rPr>
              <a:t>Data Preparations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9B0B66-726B-3013-E84C-B07D532BDA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27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2165-E781-EBDA-7AD2-6CD11AF7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084" y="416857"/>
            <a:ext cx="3704409" cy="933994"/>
          </a:xfrm>
        </p:spPr>
        <p:txBody>
          <a:bodyPr>
            <a:normAutofit/>
          </a:bodyPr>
          <a:lstStyle/>
          <a:p>
            <a:r>
              <a:rPr lang="en-IN" sz="4000" b="1" i="0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ndara" panose="020E0502030303020204" pitchFamily="34" charset="0"/>
              </a:rPr>
              <a:t>Project Goal</a:t>
            </a:r>
            <a:endParaRPr lang="en-IN" sz="4000" dirty="0">
              <a:solidFill>
                <a:schemeClr val="accent5">
                  <a:lumMod val="20000"/>
                  <a:lumOff val="8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E2E2BF-3E16-4FA8-AFDA-A291A0624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448" y="1350851"/>
            <a:ext cx="112420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Analyze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e-commerce sales data across markets, regions, and product categories to understand business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Uncover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actionable insights related to customer behavior, sales trends, and profitability drivers.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Recommend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strategic actions to boost revenue, improve profit margins, and strengthen market presence.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72AA25-57A3-1783-E926-A981F830BF8C}"/>
              </a:ext>
            </a:extLst>
          </p:cNvPr>
          <p:cNvSpPr txBox="1">
            <a:spLocks/>
          </p:cNvSpPr>
          <p:nvPr/>
        </p:nvSpPr>
        <p:spPr>
          <a:xfrm>
            <a:off x="2689088" y="3160759"/>
            <a:ext cx="9144000" cy="629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Business Problem Statement</a:t>
            </a:r>
            <a:endParaRPr lang="en-IN" sz="4000" dirty="0">
              <a:solidFill>
                <a:schemeClr val="accent5">
                  <a:lumMod val="20000"/>
                  <a:lumOff val="8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FA265C6-0249-354C-03E8-53ED7EB46439}"/>
              </a:ext>
            </a:extLst>
          </p:cNvPr>
          <p:cNvSpPr txBox="1">
            <a:spLocks/>
          </p:cNvSpPr>
          <p:nvPr/>
        </p:nvSpPr>
        <p:spPr>
          <a:xfrm>
            <a:off x="589721" y="413319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046B817-8A70-5A3A-AC75-7E671419E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05" y="3902031"/>
            <a:ext cx="106923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Clear insights into sales performance across products, cities, and customer segments are currently missing.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There is limited understanding of how discounts affect overall profitability.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Data-driven insights are required to identify top-performing categories and regions.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 structured Excel-based analysis is essential to uncover key trends and support strategic decision-making.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7ED2D-C55E-E87F-EF06-8D12915E14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54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8AA04-D1BB-6DC5-457B-E43D86A91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879" y="-74891"/>
            <a:ext cx="4294239" cy="810548"/>
          </a:xfrm>
        </p:spPr>
        <p:txBody>
          <a:bodyPr>
            <a:normAutofit/>
          </a:bodyPr>
          <a:lstStyle/>
          <a:p>
            <a:r>
              <a:rPr lang="en-IN" sz="4000" b="1" i="0" dirty="0"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latin typeface="Candara" panose="020E0502030303020204" pitchFamily="34" charset="0"/>
              </a:rPr>
              <a:t>Data Overview</a:t>
            </a:r>
            <a:endParaRPr lang="en-IN" sz="4000" dirty="0">
              <a:solidFill>
                <a:schemeClr val="accent5">
                  <a:lumMod val="20000"/>
                  <a:lumOff val="8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DD179B-7BE6-B7A8-9E35-C133610CC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123" y="880683"/>
            <a:ext cx="11969749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dataset contains e-commerce sales records, including details about orders, customers, products, and sales performance.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9CD4A8-3B58-A276-BFDE-649EFAC5E98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0153" y="1839465"/>
            <a:ext cx="11969747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Row 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Unique record identifier.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Order 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Unique order identifier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Order 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Date of purchase.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Customer 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Unique customer identifier.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Customer type (Consumer, Corporate, Self-Employed).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City / State / Country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Location details of the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Region / Market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Broader geographical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Category / Subcategory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Product categories (e.g., Hair Care, Make Up).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Product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Name of the product sold.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Quantity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Units sold.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Revenue from the sale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Discount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Discount given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Earnings from the sale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31D00-3A44-E4C0-1220-F8CB0C4CEA21}"/>
              </a:ext>
            </a:extLst>
          </p:cNvPr>
          <p:cNvSpPr txBox="1"/>
          <p:nvPr/>
        </p:nvSpPr>
        <p:spPr>
          <a:xfrm>
            <a:off x="202151" y="1330835"/>
            <a:ext cx="30084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/>
              <a:t>Column’s</a:t>
            </a:r>
            <a:r>
              <a:rPr lang="en-US" sz="2000" b="1" dirty="0"/>
              <a:t> Descriptions:</a:t>
            </a:r>
            <a:endParaRPr lang="en-US" sz="2000" b="1" dirty="0"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045692-792F-56C4-EDFD-9D47664B8A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C10AC3-775C-31BB-9933-E1C1B427BB61}"/>
              </a:ext>
            </a:extLst>
          </p:cNvPr>
          <p:cNvSpPr/>
          <p:nvPr/>
        </p:nvSpPr>
        <p:spPr>
          <a:xfrm>
            <a:off x="0" y="-44245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C9265-E177-439F-C7EA-6261A8154E01}"/>
              </a:ext>
            </a:extLst>
          </p:cNvPr>
          <p:cNvSpPr txBox="1"/>
          <p:nvPr/>
        </p:nvSpPr>
        <p:spPr>
          <a:xfrm>
            <a:off x="2956560" y="32400"/>
            <a:ext cx="9288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Data Cleaning &amp; Preparation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02712BE-882B-73B6-FAF1-3411AC4AAEE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956560" y="11161744"/>
            <a:ext cx="11887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Remove Duplicate Entries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and eliminated duplicate rows to ensure accurate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Format Date Columns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date formats across all records (e.g.,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DD-MM-YYYY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B820E-8041-2D89-8AA9-406A1F9CE28A}"/>
              </a:ext>
            </a:extLst>
          </p:cNvPr>
          <p:cNvSpPr txBox="1"/>
          <p:nvPr/>
        </p:nvSpPr>
        <p:spPr>
          <a:xfrm>
            <a:off x="148590" y="1600966"/>
            <a:ext cx="7452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Remove Duplicate Entries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Identified and eliminated duplicate rows to ensure accurate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Removed Unwanted </a:t>
            </a:r>
            <a:r>
              <a:rPr lang="en-IN" dirty="0">
                <a:solidFill>
                  <a:schemeClr val="bg1"/>
                </a:solidFill>
              </a:rPr>
              <a:t>Column’s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A228A24-229E-C774-AD05-47D3BDA7F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54" y="2726278"/>
            <a:ext cx="7112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Format Date Columns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Standardized date formats across all records (e.g., DD-MM-YYYY).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B0872D-99E4-2230-41D0-B49D46A8BCA5}"/>
              </a:ext>
            </a:extLst>
          </p:cNvPr>
          <p:cNvSpPr txBox="1"/>
          <p:nvPr/>
        </p:nvSpPr>
        <p:spPr>
          <a:xfrm>
            <a:off x="239484" y="3574591"/>
            <a:ext cx="74523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Validate Numeric Fields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Checked and corrected formatting for numeric fields: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Sales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Discount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Profit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Ensured no missing or invalid numeric values.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7252EC-7112-86AA-C811-6B67A0D36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179" y="3049443"/>
            <a:ext cx="3457486" cy="2961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C63DD4-1239-F690-118E-BA15643A54D5}"/>
              </a:ext>
            </a:extLst>
          </p:cNvPr>
          <p:cNvSpPr txBox="1"/>
          <p:nvPr/>
        </p:nvSpPr>
        <p:spPr>
          <a:xfrm>
            <a:off x="240754" y="970463"/>
            <a:ext cx="9103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Prior to analysis, thorough data cleaning and preparation were conducted to ensure accuracy.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EF4E15-A60E-E2DB-74E1-434FF2F8A5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D6A9E-5A50-31E6-7066-9A837CF39F94}"/>
              </a:ext>
            </a:extLst>
          </p:cNvPr>
          <p:cNvSpPr txBox="1"/>
          <p:nvPr/>
        </p:nvSpPr>
        <p:spPr>
          <a:xfrm>
            <a:off x="2475271" y="298924"/>
            <a:ext cx="7946922" cy="5078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>
                <a:solidFill>
                  <a:schemeClr val="accent5">
                    <a:lumMod val="20000"/>
                    <a:lumOff val="80000"/>
                  </a:schemeClr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r>
              <a:rPr lang="en-IN" sz="4000" dirty="0"/>
              <a:t>Business Problem &amp; Key 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89E-EA51-8248-0D26-1BD6FEF1D60B}"/>
              </a:ext>
            </a:extLst>
          </p:cNvPr>
          <p:cNvSpPr txBox="1"/>
          <p:nvPr/>
        </p:nvSpPr>
        <p:spPr>
          <a:xfrm>
            <a:off x="124870" y="1233134"/>
            <a:ext cx="12067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support strategic decision-making, an analysis was conducted to identify sales performance trends, profitability drivers, and improvement areas. The following key business questions were formulated based on the dataset analysis.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1304F0E-E5A9-B8A2-C300-8B2535769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70" y="2109140"/>
            <a:ext cx="829056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 is the total sales revenue and profit?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What’s the average discount and its impact on profit?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What’s the average order value and customer spending?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Which products have the highest revenue?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Which products are low-selling, and what to do?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Which product category has the highest profit?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 is the total quantity sold and orders placed?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What’s the profit margin, and is it on target?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Which products/categories should be restocked?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Which products/categories are losing, and how to improve?</a:t>
            </a:r>
          </a:p>
        </p:txBody>
      </p:sp>
    </p:spTree>
    <p:extLst>
      <p:ext uri="{BB962C8B-B14F-4D97-AF65-F5344CB8AC3E}">
        <p14:creationId xmlns:p14="http://schemas.microsoft.com/office/powerpoint/2010/main" val="255883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1652-8E8A-7005-D7D9-EE8A1CB9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7A58-1B63-1404-A998-3BFB2D0C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569" y="42712"/>
            <a:ext cx="9878860" cy="6587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Data Analysis with Essential Excel Functions</a:t>
            </a:r>
            <a:endParaRPr lang="en-IN" sz="4000" b="1" dirty="0">
              <a:solidFill>
                <a:schemeClr val="accent5">
                  <a:lumMod val="20000"/>
                  <a:lumOff val="8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8B7F8-D08A-367B-3753-93A12B2A2FEE}"/>
              </a:ext>
            </a:extLst>
          </p:cNvPr>
          <p:cNvSpPr txBox="1"/>
          <p:nvPr/>
        </p:nvSpPr>
        <p:spPr>
          <a:xfrm>
            <a:off x="170527" y="1406556"/>
            <a:ext cx="147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Total Sales</a:t>
            </a:r>
            <a:r>
              <a:rPr lang="en-IN" sz="2000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E245B-1298-56D2-2E81-279493584CB7}"/>
              </a:ext>
            </a:extLst>
          </p:cNvPr>
          <p:cNvSpPr txBox="1"/>
          <p:nvPr/>
        </p:nvSpPr>
        <p:spPr>
          <a:xfrm>
            <a:off x="1566606" y="1409007"/>
            <a:ext cx="2805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SUM(Dataset!O2:O51189)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CF9A0-2A34-86D0-E39F-D8EA383DB0DA}"/>
              </a:ext>
            </a:extLst>
          </p:cNvPr>
          <p:cNvSpPr txBox="1"/>
          <p:nvPr/>
        </p:nvSpPr>
        <p:spPr>
          <a:xfrm>
            <a:off x="5871655" y="1307935"/>
            <a:ext cx="1922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dirty="0">
                <a:effectLst/>
              </a:rPr>
              <a:t>Total Quantities</a:t>
            </a:r>
            <a:r>
              <a:rPr lang="en-IN" sz="20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7F9B8-DDC7-7BBE-52FB-8F9387CCA164}"/>
              </a:ext>
            </a:extLst>
          </p:cNvPr>
          <p:cNvSpPr txBox="1"/>
          <p:nvPr/>
        </p:nvSpPr>
        <p:spPr>
          <a:xfrm>
            <a:off x="7603175" y="1307935"/>
            <a:ext cx="3843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SUM(Dataset!N2:N51189)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E62098-B8C3-338C-DAF2-54B9BECCE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813" y="2239039"/>
            <a:ext cx="2531320" cy="1474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F674220-BD4F-1761-1532-5D9F787A8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073" y="2138026"/>
            <a:ext cx="2805755" cy="14818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70F935-4B67-F001-C37A-120580CBBCB8}"/>
              </a:ext>
            </a:extLst>
          </p:cNvPr>
          <p:cNvSpPr txBox="1"/>
          <p:nvPr/>
        </p:nvSpPr>
        <p:spPr>
          <a:xfrm>
            <a:off x="295211" y="4660800"/>
            <a:ext cx="1399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dirty="0">
                <a:effectLst/>
              </a:rPr>
              <a:t>Total Profit </a:t>
            </a:r>
            <a:endParaRPr lang="en-IN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3354A-8E58-8CAC-6AC7-446D9C3B690B}"/>
              </a:ext>
            </a:extLst>
          </p:cNvPr>
          <p:cNvSpPr txBox="1"/>
          <p:nvPr/>
        </p:nvSpPr>
        <p:spPr>
          <a:xfrm>
            <a:off x="1639094" y="4660800"/>
            <a:ext cx="3006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SUM(Dataset!Q2:Q51189)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E64A7A8-C53A-489F-2736-66F437C2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082" y="5402931"/>
            <a:ext cx="2387738" cy="12524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5F36139-94AD-C1CA-0116-617CBA25FCB3}"/>
              </a:ext>
            </a:extLst>
          </p:cNvPr>
          <p:cNvSpPr txBox="1"/>
          <p:nvPr/>
        </p:nvSpPr>
        <p:spPr>
          <a:xfrm>
            <a:off x="6095999" y="4627911"/>
            <a:ext cx="1922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dirty="0">
                <a:effectLst/>
              </a:rPr>
              <a:t>Profit Margin %</a:t>
            </a:r>
            <a:r>
              <a:rPr lang="en-IN" sz="2000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2571DC-D520-81D7-6A8F-75A7D2AB3B0C}"/>
              </a:ext>
            </a:extLst>
          </p:cNvPr>
          <p:cNvSpPr txBox="1"/>
          <p:nvPr/>
        </p:nvSpPr>
        <p:spPr>
          <a:xfrm>
            <a:off x="7791081" y="4605191"/>
            <a:ext cx="1426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( (D6/B6))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B74BB1F-E3B1-FF06-5E0E-50275F202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371" y="5232351"/>
            <a:ext cx="2387737" cy="1423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6C8583-1A29-32D3-D567-858F0F84AE0B}"/>
              </a:ext>
            </a:extLst>
          </p:cNvPr>
          <p:cNvSpPr txBox="1"/>
          <p:nvPr/>
        </p:nvSpPr>
        <p:spPr>
          <a:xfrm>
            <a:off x="1566606" y="712833"/>
            <a:ext cx="81890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1. Calculate the total sales, total profit, and average discount</a:t>
            </a:r>
            <a:endParaRPr lang="en-IN" sz="2400" b="1" dirty="0">
              <a:solidFill>
                <a:srgbClr val="FFC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AF7AD-00A0-6583-26B8-F95E6891C6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3E6A8-A503-3112-4D2C-8CE18CB5A31A}"/>
              </a:ext>
            </a:extLst>
          </p:cNvPr>
          <p:cNvSpPr txBox="1"/>
          <p:nvPr/>
        </p:nvSpPr>
        <p:spPr>
          <a:xfrm>
            <a:off x="9727239" y="6261724"/>
            <a:ext cx="2464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D6 = Total Profit, B6 = Total Sales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2920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474F41-C3B1-767E-6689-28A534473601}"/>
              </a:ext>
            </a:extLst>
          </p:cNvPr>
          <p:cNvSpPr txBox="1"/>
          <p:nvPr/>
        </p:nvSpPr>
        <p:spPr>
          <a:xfrm>
            <a:off x="248856" y="403106"/>
            <a:ext cx="18745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dirty="0">
                <a:solidFill>
                  <a:srgbClr val="000000"/>
                </a:solidFill>
                <a:effectLst/>
              </a:rPr>
              <a:t>Avg Discount</a:t>
            </a:r>
            <a:r>
              <a:rPr lang="en-IN" sz="20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3F7C4-280A-3F72-76A4-D48C560B862D}"/>
              </a:ext>
            </a:extLst>
          </p:cNvPr>
          <p:cNvSpPr txBox="1"/>
          <p:nvPr/>
        </p:nvSpPr>
        <p:spPr>
          <a:xfrm>
            <a:off x="1883122" y="440314"/>
            <a:ext cx="3485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 AVERAGE(Dataset!P2:P51189)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872DE1-2EC3-B738-2B1B-62AD7E0FD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957" y="1135542"/>
            <a:ext cx="2589483" cy="12926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5FA97B-262E-84F2-24D9-AF685A26CE7F}"/>
              </a:ext>
            </a:extLst>
          </p:cNvPr>
          <p:cNvSpPr txBox="1"/>
          <p:nvPr/>
        </p:nvSpPr>
        <p:spPr>
          <a:xfrm>
            <a:off x="6544475" y="455153"/>
            <a:ext cx="2048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Avg Order Value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BFA272-D948-252D-0C72-351E6E31CC7B}"/>
              </a:ext>
            </a:extLst>
          </p:cNvPr>
          <p:cNvSpPr txBox="1"/>
          <p:nvPr/>
        </p:nvSpPr>
        <p:spPr>
          <a:xfrm>
            <a:off x="8359107" y="470542"/>
            <a:ext cx="233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B6/B13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2865D4-AF67-FD59-0A0C-61764DD52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221" y="1137829"/>
            <a:ext cx="2173962" cy="12903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BB674E9-ECE0-9909-EE91-4200C6D0086E}"/>
              </a:ext>
            </a:extLst>
          </p:cNvPr>
          <p:cNvSpPr txBox="1"/>
          <p:nvPr/>
        </p:nvSpPr>
        <p:spPr>
          <a:xfrm>
            <a:off x="285430" y="3396283"/>
            <a:ext cx="31953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dirty="0">
                <a:solidFill>
                  <a:srgbClr val="00B0F0"/>
                </a:solidFill>
                <a:effectLst/>
              </a:rPr>
              <a:t>Highest Selling  Product</a:t>
            </a:r>
            <a:r>
              <a:rPr lang="en-IN" sz="200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F28798-15D3-23D8-3364-E49327CF2E1C}"/>
              </a:ext>
            </a:extLst>
          </p:cNvPr>
          <p:cNvSpPr txBox="1"/>
          <p:nvPr/>
        </p:nvSpPr>
        <p:spPr>
          <a:xfrm>
            <a:off x="1392924" y="3890896"/>
            <a:ext cx="6667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INDEX(I4:I3580, MATCH(LARGE(J4:J3580, ROW(A1)), J4:J3580, 0))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BACC1-905B-547E-1D8A-D1FEA824A944}"/>
              </a:ext>
            </a:extLst>
          </p:cNvPr>
          <p:cNvSpPr txBox="1"/>
          <p:nvPr/>
        </p:nvSpPr>
        <p:spPr>
          <a:xfrm>
            <a:off x="1392924" y="4296073"/>
            <a:ext cx="2458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LARGE(J:J, ROW(A1))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C941A-3CD4-4EB0-6339-F65132A81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122" y="4886126"/>
            <a:ext cx="4661353" cy="19192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70A752-AD92-523D-09DC-62D6A0A250FE}"/>
              </a:ext>
            </a:extLst>
          </p:cNvPr>
          <p:cNvSpPr txBox="1"/>
          <p:nvPr/>
        </p:nvSpPr>
        <p:spPr>
          <a:xfrm>
            <a:off x="412529" y="4296073"/>
            <a:ext cx="980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A9059-9EBD-5CEE-DEDE-8D0EE6B40373}"/>
              </a:ext>
            </a:extLst>
          </p:cNvPr>
          <p:cNvSpPr txBox="1"/>
          <p:nvPr/>
        </p:nvSpPr>
        <p:spPr>
          <a:xfrm>
            <a:off x="337800" y="3926741"/>
            <a:ext cx="112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B298A-FE6F-45A5-0102-31A3780E9998}"/>
              </a:ext>
            </a:extLst>
          </p:cNvPr>
          <p:cNvSpPr txBox="1"/>
          <p:nvPr/>
        </p:nvSpPr>
        <p:spPr>
          <a:xfrm>
            <a:off x="2264395" y="2736271"/>
            <a:ext cx="7942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2. Find the highest-selling and lowest-selling products 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791C8D-7266-7EE7-172F-C5DE42893246}"/>
              </a:ext>
            </a:extLst>
          </p:cNvPr>
          <p:cNvCxnSpPr>
            <a:cxnSpLocks/>
          </p:cNvCxnSpPr>
          <p:nvPr/>
        </p:nvCxnSpPr>
        <p:spPr>
          <a:xfrm flipV="1">
            <a:off x="702300" y="2683868"/>
            <a:ext cx="10787400" cy="3161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19CD5DD-08A1-92FE-EA64-96E7879154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BE62D-FDDA-0D24-3DAF-4A77E0826CB7}"/>
              </a:ext>
            </a:extLst>
          </p:cNvPr>
          <p:cNvSpPr txBox="1"/>
          <p:nvPr/>
        </p:nvSpPr>
        <p:spPr>
          <a:xfrm>
            <a:off x="10321300" y="2171880"/>
            <a:ext cx="233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B6 = Sale,B13 = orders</a:t>
            </a:r>
          </a:p>
        </p:txBody>
      </p:sp>
    </p:spTree>
    <p:extLst>
      <p:ext uri="{BB962C8B-B14F-4D97-AF65-F5344CB8AC3E}">
        <p14:creationId xmlns:p14="http://schemas.microsoft.com/office/powerpoint/2010/main" val="161002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BFAB9F2-EA41-F37B-B48C-60137927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488" y="5173480"/>
            <a:ext cx="6134956" cy="1562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7BC2CD-9943-0DD9-025E-DE2C504C3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005" y="1537823"/>
            <a:ext cx="4790414" cy="1784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52E149-F032-9098-5D17-D15627D2352F}"/>
              </a:ext>
            </a:extLst>
          </p:cNvPr>
          <p:cNvSpPr txBox="1"/>
          <p:nvPr/>
        </p:nvSpPr>
        <p:spPr>
          <a:xfrm>
            <a:off x="431567" y="110554"/>
            <a:ext cx="2736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u="none" strike="noStrike" dirty="0">
                <a:solidFill>
                  <a:srgbClr val="00B0F0"/>
                </a:solidFill>
                <a:effectLst/>
              </a:rPr>
              <a:t>Lowest Selling Product</a:t>
            </a:r>
            <a:r>
              <a:rPr lang="en-IN" sz="200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55743-F8D6-BB31-B564-6EC55AE50AF0}"/>
              </a:ext>
            </a:extLst>
          </p:cNvPr>
          <p:cNvSpPr txBox="1"/>
          <p:nvPr/>
        </p:nvSpPr>
        <p:spPr>
          <a:xfrm>
            <a:off x="1818249" y="496405"/>
            <a:ext cx="6499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INDEX(I5:I3580, MATCH(SMALL(J5:J3580, ROW(A1)), J5:J3580, 0))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B12732-5B6F-72C0-8ADF-1CE0C60EA3EC}"/>
              </a:ext>
            </a:extLst>
          </p:cNvPr>
          <p:cNvSpPr txBox="1"/>
          <p:nvPr/>
        </p:nvSpPr>
        <p:spPr>
          <a:xfrm>
            <a:off x="1818249" y="893599"/>
            <a:ext cx="3008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SMALL(J5:J3580,ROW(A1))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4065C3-6B73-E992-9D7B-3F8C2CA48963}"/>
              </a:ext>
            </a:extLst>
          </p:cNvPr>
          <p:cNvSpPr txBox="1"/>
          <p:nvPr/>
        </p:nvSpPr>
        <p:spPr>
          <a:xfrm>
            <a:off x="2585054" y="4138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COUNTIF(Dataset!L2:L51189, S3)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E46CBD-0C74-728A-02D8-CAFA60A5364F}"/>
              </a:ext>
            </a:extLst>
          </p:cNvPr>
          <p:cNvSpPr txBox="1"/>
          <p:nvPr/>
        </p:nvSpPr>
        <p:spPr>
          <a:xfrm>
            <a:off x="1356783" y="45637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= SUMIF(Dataset!L2:L51189, S3, Dataset!Q2:Q51189)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7EDCF1-04DE-3CF1-7BC5-FE37B59F4B53}"/>
              </a:ext>
            </a:extLst>
          </p:cNvPr>
          <p:cNvSpPr txBox="1"/>
          <p:nvPr/>
        </p:nvSpPr>
        <p:spPr>
          <a:xfrm>
            <a:off x="493708" y="852979"/>
            <a:ext cx="1324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Total Sales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3A1E4-CE25-0EB0-076B-AA9E4370CE55}"/>
              </a:ext>
            </a:extLst>
          </p:cNvPr>
          <p:cNvSpPr txBox="1"/>
          <p:nvPr/>
        </p:nvSpPr>
        <p:spPr>
          <a:xfrm>
            <a:off x="266048" y="4563758"/>
            <a:ext cx="1245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Total Profit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50D52E-93E1-166E-D387-30E6C5746653}"/>
              </a:ext>
            </a:extLst>
          </p:cNvPr>
          <p:cNvSpPr txBox="1"/>
          <p:nvPr/>
        </p:nvSpPr>
        <p:spPr>
          <a:xfrm>
            <a:off x="49703" y="4117718"/>
            <a:ext cx="2614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Products per Categories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32279D-C1BB-90F5-DA03-67A3C803AB03}"/>
              </a:ext>
            </a:extLst>
          </p:cNvPr>
          <p:cNvSpPr txBox="1"/>
          <p:nvPr/>
        </p:nvSpPr>
        <p:spPr>
          <a:xfrm>
            <a:off x="556349" y="524267"/>
            <a:ext cx="1324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9C602-F5C8-BD47-24E3-925FE47A6B18}"/>
              </a:ext>
            </a:extLst>
          </p:cNvPr>
          <p:cNvSpPr txBox="1"/>
          <p:nvPr/>
        </p:nvSpPr>
        <p:spPr>
          <a:xfrm>
            <a:off x="262337" y="3621313"/>
            <a:ext cx="64991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Identify the most profitable product categories</a:t>
            </a:r>
            <a:endParaRPr lang="en-IN" sz="2400" b="1" dirty="0">
              <a:solidFill>
                <a:srgbClr val="FFC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3D10AD-A0DD-073D-5A8B-1A6323A78D3F}"/>
              </a:ext>
            </a:extLst>
          </p:cNvPr>
          <p:cNvCxnSpPr>
            <a:cxnSpLocks/>
          </p:cNvCxnSpPr>
          <p:nvPr/>
        </p:nvCxnSpPr>
        <p:spPr>
          <a:xfrm flipV="1">
            <a:off x="556349" y="3506741"/>
            <a:ext cx="10787400" cy="3161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CA4241A-F0F4-B6B5-6C4A-349794BA66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604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09D5C9-3A19-8D9C-9114-E7A542FDCE91}"/>
              </a:ext>
            </a:extLst>
          </p:cNvPr>
          <p:cNvSpPr txBox="1"/>
          <p:nvPr/>
        </p:nvSpPr>
        <p:spPr>
          <a:xfrm>
            <a:off x="4824066" y="0"/>
            <a:ext cx="3538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LookupAnalysis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D8F7124-10AA-6E0E-C947-87E1DC905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467121"/>
              </p:ext>
            </p:extLst>
          </p:nvPr>
        </p:nvGraphicFramePr>
        <p:xfrm>
          <a:off x="469412" y="4194966"/>
          <a:ext cx="11253171" cy="2621280"/>
        </p:xfrm>
        <a:graphic>
          <a:graphicData uri="http://schemas.openxmlformats.org/drawingml/2006/table">
            <a:tbl>
              <a:tblPr firstRow="1" bandRow="1">
                <a:solidFill>
                  <a:srgbClr val="C16DBB"/>
                </a:solidFill>
              </a:tblPr>
              <a:tblGrid>
                <a:gridCol w="3751057">
                  <a:extLst>
                    <a:ext uri="{9D8B030D-6E8A-4147-A177-3AD203B41FA5}">
                      <a16:colId xmlns:a16="http://schemas.microsoft.com/office/drawing/2014/main" val="852915824"/>
                    </a:ext>
                  </a:extLst>
                </a:gridCol>
                <a:gridCol w="3751057">
                  <a:extLst>
                    <a:ext uri="{9D8B030D-6E8A-4147-A177-3AD203B41FA5}">
                      <a16:colId xmlns:a16="http://schemas.microsoft.com/office/drawing/2014/main" val="4184156591"/>
                    </a:ext>
                  </a:extLst>
                </a:gridCol>
                <a:gridCol w="3751057">
                  <a:extLst>
                    <a:ext uri="{9D8B030D-6E8A-4147-A177-3AD203B41FA5}">
                      <a16:colId xmlns:a16="http://schemas.microsoft.com/office/drawing/2014/main" val="1484006764"/>
                    </a:ext>
                  </a:extLst>
                </a:gridCol>
              </a:tblGrid>
              <a:tr h="14850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highlight>
                            <a:srgbClr val="F6BCF6"/>
                          </a:highlight>
                        </a:rPr>
                        <a:t>Look Up</a:t>
                      </a:r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highlight>
                            <a:srgbClr val="F6BCF6"/>
                          </a:highlight>
                        </a:rPr>
                        <a:t>Formulae</a:t>
                      </a:r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highlight>
                            <a:srgbClr val="F6BCF6"/>
                          </a:highlight>
                        </a:rPr>
                        <a:t>Output</a:t>
                      </a:r>
                    </a:p>
                  </a:txBody>
                  <a:tcPr>
                    <a:solidFill>
                      <a:srgbClr val="F6B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3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VLOOKUP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=VLOOKUP(I4, A3:G51183,3,FALSE)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Body care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471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VLOOKUP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=VLOOKUP(L4,A3:G51183,2,FALSE)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Eye Brushes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24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HLOOKUP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=HLOOKUP("Sales",A2:G51118,3,FALSE)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48</a:t>
                      </a:r>
                    </a:p>
                    <a:p>
                      <a:pPr algn="ctr"/>
                      <a:r>
                        <a:rPr lang="en-IN" sz="1400" dirty="0"/>
                        <a:t>(Sales)</a:t>
                      </a:r>
                    </a:p>
                  </a:txBody>
                  <a:tcPr>
                    <a:solidFill>
                      <a:srgbClr val="F6B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189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XLOOKUP</a:t>
                      </a:r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=XLOOKUP("L'Oréal Paris Preference - Light Warm Brown",A2:A51183,G2:G51183)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>
                    <a:solidFill>
                      <a:srgbClr val="F6BC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19.2</a:t>
                      </a:r>
                    </a:p>
                    <a:p>
                      <a:pPr algn="ctr"/>
                      <a:r>
                        <a:rPr lang="en-IN" sz="1400" dirty="0"/>
                        <a:t>(Profit)</a:t>
                      </a:r>
                    </a:p>
                  </a:txBody>
                  <a:tcPr>
                    <a:solidFill>
                      <a:srgbClr val="F6B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40078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A593218-4A53-DB2B-A133-8762F82928F4}"/>
              </a:ext>
            </a:extLst>
          </p:cNvPr>
          <p:cNvSpPr txBox="1"/>
          <p:nvPr/>
        </p:nvSpPr>
        <p:spPr>
          <a:xfrm>
            <a:off x="2884991" y="657822"/>
            <a:ext cx="7867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Comparison of lookup functions used in Excel for data extraction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B08158-D84A-06B1-82BE-64078E985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84C550-5F6E-2FDD-EE32-9E951983E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47439" y="1304153"/>
            <a:ext cx="7097115" cy="2667372"/>
          </a:xfrm>
        </p:spPr>
      </p:pic>
    </p:spTree>
    <p:extLst>
      <p:ext uri="{BB962C8B-B14F-4D97-AF65-F5344CB8AC3E}">
        <p14:creationId xmlns:p14="http://schemas.microsoft.com/office/powerpoint/2010/main" val="116897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1860-5506-20DF-E9B3-A8A02E3B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E0AEB44-F11B-056C-F69B-FCEE015B6E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E609E-9C21-465E-588D-FFA4CCD6EBFB}"/>
              </a:ext>
            </a:extLst>
          </p:cNvPr>
          <p:cNvSpPr txBox="1"/>
          <p:nvPr/>
        </p:nvSpPr>
        <p:spPr>
          <a:xfrm>
            <a:off x="-71120" y="584111"/>
            <a:ext cx="1226312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100" algn="just"/>
            <a:r>
              <a:rPr lang="en-US" b="1" dirty="0">
                <a:solidFill>
                  <a:srgbClr val="FFC000"/>
                </a:solidFill>
              </a:rPr>
              <a:t> Top-Selling Products</a:t>
            </a:r>
          </a:p>
          <a:p>
            <a:pPr marL="4108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product with the highest sales was </a:t>
            </a:r>
            <a:r>
              <a:rPr lang="en-US" b="1" dirty="0">
                <a:solidFill>
                  <a:schemeClr val="bg1"/>
                </a:solidFill>
              </a:rPr>
              <a:t>Herbal Essences Bio</a:t>
            </a:r>
            <a:r>
              <a:rPr lang="en-US" dirty="0">
                <a:solidFill>
                  <a:schemeClr val="bg1"/>
                </a:solidFill>
              </a:rPr>
              <a:t> generating </a:t>
            </a:r>
            <a:r>
              <a:rPr lang="en-US" b="1" dirty="0">
                <a:solidFill>
                  <a:schemeClr val="bg1"/>
                </a:solidFill>
              </a:rPr>
              <a:t>$65,360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108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Other high performers included </a:t>
            </a:r>
            <a:r>
              <a:rPr lang="en-US" b="1" dirty="0">
                <a:solidFill>
                  <a:schemeClr val="bg1"/>
                </a:solidFill>
              </a:rPr>
              <a:t>Rose Gold Petal Studs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Sterling Wave Earrings</a:t>
            </a:r>
            <a:r>
              <a:rPr lang="en-US" dirty="0"/>
              <a:t>.</a:t>
            </a:r>
          </a:p>
          <a:p>
            <a:pPr marL="125100" algn="just">
              <a:lnSpc>
                <a:spcPct val="150000"/>
              </a:lnSpc>
            </a:pPr>
            <a:r>
              <a:rPr lang="en-US" b="1" dirty="0">
                <a:solidFill>
                  <a:srgbClr val="FFC000"/>
                </a:solidFill>
              </a:rPr>
              <a:t>Lowest-Selling Products</a:t>
            </a:r>
          </a:p>
          <a:p>
            <a:pPr marL="4680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product with the lowest sales was </a:t>
            </a:r>
            <a:r>
              <a:rPr lang="en-US" b="1" dirty="0">
                <a:solidFill>
                  <a:schemeClr val="bg1"/>
                </a:solidFill>
              </a:rPr>
              <a:t>Dove Purely Pampering Shea Butter with Warm Vanilla Body Wash</a:t>
            </a:r>
            <a:r>
              <a:rPr lang="en-US" dirty="0">
                <a:solidFill>
                  <a:schemeClr val="bg1"/>
                </a:solidFill>
              </a:rPr>
              <a:t>, with only </a:t>
            </a:r>
            <a:r>
              <a:rPr lang="en-US" b="1" dirty="0">
                <a:solidFill>
                  <a:schemeClr val="bg1"/>
                </a:solidFill>
              </a:rPr>
              <a:t>3 units sold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4680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Other low performers included </a:t>
            </a:r>
            <a:r>
              <a:rPr lang="en-US" b="1" dirty="0">
                <a:solidFill>
                  <a:schemeClr val="bg1"/>
                </a:solidFill>
              </a:rPr>
              <a:t>Cetaphil Ultra Gentle Refreshing Body Wash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Aveeno Daily Moisturizing Body Wash</a:t>
            </a:r>
            <a:r>
              <a:rPr lang="en-US" dirty="0"/>
              <a:t>.</a:t>
            </a:r>
          </a:p>
          <a:p>
            <a:pPr marL="125100" algn="just">
              <a:spcBef>
                <a:spcPts val="600"/>
              </a:spcBef>
            </a:pP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Most Profitable Product Categories</a:t>
            </a:r>
          </a:p>
          <a:p>
            <a:pPr marL="4680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Body Care</a:t>
            </a:r>
            <a:r>
              <a:rPr lang="en-US" dirty="0">
                <a:solidFill>
                  <a:schemeClr val="bg1"/>
                </a:solidFill>
              </a:rPr>
              <a:t> was the most profitable category, earning </a:t>
            </a:r>
            <a:r>
              <a:rPr lang="en-US" b="1" dirty="0">
                <a:solidFill>
                  <a:schemeClr val="bg1"/>
                </a:solidFill>
              </a:rPr>
              <a:t>$590,007.68</a:t>
            </a:r>
            <a:r>
              <a:rPr lang="en-US" dirty="0">
                <a:solidFill>
                  <a:schemeClr val="bg1"/>
                </a:solidFill>
              </a:rPr>
              <a:t> in total profit.</a:t>
            </a:r>
          </a:p>
          <a:p>
            <a:pPr marL="4680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Face Care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Makeup</a:t>
            </a:r>
            <a:r>
              <a:rPr lang="en-US" dirty="0">
                <a:solidFill>
                  <a:schemeClr val="bg1"/>
                </a:solidFill>
              </a:rPr>
              <a:t> also performed well, contributing significantly to overall profitability.</a:t>
            </a:r>
          </a:p>
          <a:p>
            <a:pPr marL="125100" algn="just">
              <a:spcBef>
                <a:spcPts val="600"/>
              </a:spcBef>
            </a:pP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Loss-Making Category</a:t>
            </a:r>
          </a:p>
          <a:p>
            <a:pPr marL="4680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Home and Accessories</a:t>
            </a:r>
            <a:r>
              <a:rPr lang="en-US" dirty="0">
                <a:solidFill>
                  <a:schemeClr val="bg1"/>
                </a:solidFill>
              </a:rPr>
              <a:t> recorded a loss of </a:t>
            </a:r>
            <a:r>
              <a:rPr lang="en-US" b="1" dirty="0">
                <a:solidFill>
                  <a:schemeClr val="bg1"/>
                </a:solidFill>
              </a:rPr>
              <a:t>$56,594.24</a:t>
            </a:r>
            <a:r>
              <a:rPr lang="en-US" dirty="0">
                <a:solidFill>
                  <a:schemeClr val="bg1"/>
                </a:solidFill>
              </a:rPr>
              <a:t>, indicating a need for review or strategic changes.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D3717F-03FA-0B79-1E76-96EAFBAC53D9}"/>
              </a:ext>
            </a:extLst>
          </p:cNvPr>
          <p:cNvSpPr txBox="1"/>
          <p:nvPr/>
        </p:nvSpPr>
        <p:spPr>
          <a:xfrm>
            <a:off x="4895235" y="0"/>
            <a:ext cx="2252818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Findings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3F81D3-DEB2-D91F-277B-ECBF942BEACB}"/>
              </a:ext>
            </a:extLst>
          </p:cNvPr>
          <p:cNvSpPr txBox="1"/>
          <p:nvPr/>
        </p:nvSpPr>
        <p:spPr>
          <a:xfrm>
            <a:off x="161290" y="5491650"/>
            <a:ext cx="1158367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Focus marketing efforts</a:t>
            </a:r>
            <a:r>
              <a:rPr lang="en-US" dirty="0">
                <a:solidFill>
                  <a:schemeClr val="bg1"/>
                </a:solidFill>
              </a:rPr>
              <a:t> on high-performing products and categories.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Review pricing or product strategies</a:t>
            </a:r>
            <a:r>
              <a:rPr lang="en-US" dirty="0">
                <a:solidFill>
                  <a:schemeClr val="bg1"/>
                </a:solidFill>
              </a:rPr>
              <a:t> for low-selling and loss-making items.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Maintain discounting strategy</a:t>
            </a:r>
            <a:r>
              <a:rPr lang="en-US" dirty="0">
                <a:solidFill>
                  <a:schemeClr val="bg1"/>
                </a:solidFill>
              </a:rPr>
              <a:t> to keep a balance between volume and profitability.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F37607-1AD4-FFBA-6964-9F72DAC6DD96}"/>
              </a:ext>
            </a:extLst>
          </p:cNvPr>
          <p:cNvSpPr txBox="1"/>
          <p:nvPr/>
        </p:nvSpPr>
        <p:spPr>
          <a:xfrm>
            <a:off x="4723129" y="4754094"/>
            <a:ext cx="3791605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buNone/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48910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B5421-52C8-0510-1CDC-ADB1348C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1080" y="307871"/>
            <a:ext cx="4533640" cy="59802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Dashboard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8F9AD0-200F-C31A-1B9D-3E4EBAF12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66" y="1114511"/>
            <a:ext cx="9907176" cy="389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comprehensive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of e-commerce business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Key metrics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customer 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quantity sold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profit margins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Top-performing cities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product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are highlighted to identify key growth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Monthly sales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are visualized to track performance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Identifies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highest and lowest selling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for optimization opportunities.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dirty="0">
                <a:solidFill>
                  <a:schemeClr val="bg1"/>
                </a:solidFill>
              </a:rPr>
              <a:t>Orders from different markets (regions) were analyzed to gain insights into market-wise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Discounts and profitability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are analyzed to understand the impact of promotions on margins.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4EF12ED-FDFF-B20A-5D92-7B916C643077}"/>
              </a:ext>
            </a:extLst>
          </p:cNvPr>
          <p:cNvSpPr/>
          <p:nvPr/>
        </p:nvSpPr>
        <p:spPr>
          <a:xfrm>
            <a:off x="4939748" y="5367438"/>
            <a:ext cx="1156252" cy="376051"/>
          </a:xfrm>
          <a:prstGeom prst="rightArrow">
            <a:avLst/>
          </a:prstGeom>
          <a:solidFill>
            <a:srgbClr val="934B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9A82B-8654-433B-57A9-61337F9135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49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20CBF2-2F42-E05C-BD0B-7308EA333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05" y="88036"/>
            <a:ext cx="12104590" cy="6681928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B4C5C1-1267-8EDF-5761-53A2F0F93A45}"/>
              </a:ext>
            </a:extLst>
          </p:cNvPr>
          <p:cNvSpPr/>
          <p:nvPr/>
        </p:nvSpPr>
        <p:spPr>
          <a:xfrm>
            <a:off x="0" y="0"/>
            <a:ext cx="12148295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979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743591-CAAC-4222-AF7D-562DC70728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77DF3-5637-52E0-1450-C56E6C2E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ACAD2B-567B-3F1F-12D5-6DAAB380A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4" y="36407"/>
            <a:ext cx="11996165" cy="678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7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73ACD-BACC-86F7-22CF-61CBF0E9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890" y="114547"/>
            <a:ext cx="6029960" cy="86732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Data-Driven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E6E8-0C7F-B81D-F35E-F6F93B8BB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82" y="1096422"/>
            <a:ext cx="12064118" cy="51447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B0F0"/>
                </a:solidFill>
              </a:rPr>
              <a:t>Key Insights from Dashboard 1: General Performance &amp; Market Overview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Total Sales</a:t>
            </a:r>
            <a:r>
              <a:rPr lang="en-US" sz="1800" dirty="0">
                <a:solidFill>
                  <a:schemeClr val="bg1"/>
                </a:solidFill>
              </a:rPr>
              <a:t> amount to </a:t>
            </a:r>
            <a:r>
              <a:rPr lang="en-US" sz="1800" b="1" dirty="0">
                <a:solidFill>
                  <a:schemeClr val="bg1"/>
                </a:solidFill>
              </a:rPr>
              <a:t>$33.04M</a:t>
            </a:r>
            <a:r>
              <a:rPr lang="en-US" sz="1800" dirty="0">
                <a:solidFill>
                  <a:schemeClr val="bg1"/>
                </a:solidFill>
              </a:rPr>
              <a:t> with </a:t>
            </a:r>
            <a:r>
              <a:rPr lang="en-US" sz="1800" b="1" dirty="0">
                <a:solidFill>
                  <a:schemeClr val="bg1"/>
                </a:solidFill>
              </a:rPr>
              <a:t>277K units sold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17,415 customers</a:t>
            </a:r>
            <a:r>
              <a:rPr lang="en-US" sz="1800" dirty="0">
                <a:solidFill>
                  <a:schemeClr val="bg1"/>
                </a:solidFill>
              </a:rPr>
              <a:t> served.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Top Cities by Sales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New York City</a:t>
            </a:r>
            <a:r>
              <a:rPr lang="en-US" sz="1800" dirty="0">
                <a:solidFill>
                  <a:schemeClr val="bg1"/>
                </a:solidFill>
              </a:rPr>
              <a:t> ($117.3K) and </a:t>
            </a:r>
            <a:r>
              <a:rPr lang="en-US" sz="1800" b="1" dirty="0">
                <a:solidFill>
                  <a:schemeClr val="bg1"/>
                </a:solidFill>
              </a:rPr>
              <a:t>Los Angeles</a:t>
            </a:r>
            <a:r>
              <a:rPr lang="en-US" sz="1800" dirty="0">
                <a:solidFill>
                  <a:schemeClr val="bg1"/>
                </a:solidFill>
              </a:rPr>
              <a:t> ($107.5K) lead in sales.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Market Share by Region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Africa (28.15%)</a:t>
            </a:r>
            <a:r>
              <a:rPr lang="en-US" sz="1800" dirty="0">
                <a:solidFill>
                  <a:schemeClr val="bg1"/>
                </a:solidFill>
              </a:rPr>
              <a:t> holds the largest market share, followed by </a:t>
            </a:r>
            <a:r>
              <a:rPr lang="en-US" sz="1800" b="1" dirty="0">
                <a:solidFill>
                  <a:schemeClr val="bg1"/>
                </a:solidFill>
              </a:rPr>
              <a:t>LATAM (22.87%)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Europe (20.56%)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Customer Segments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Corporate customers</a:t>
            </a:r>
            <a:r>
              <a:rPr lang="en-US" sz="1800" dirty="0">
                <a:solidFill>
                  <a:schemeClr val="bg1"/>
                </a:solidFill>
              </a:rPr>
              <a:t> contribute the highest revenue ($3.83M), while </a:t>
            </a:r>
            <a:r>
              <a:rPr lang="en-US" sz="1800" b="1" dirty="0">
                <a:solidFill>
                  <a:schemeClr val="bg1"/>
                </a:solidFill>
              </a:rPr>
              <a:t>Consumers</a:t>
            </a:r>
            <a:r>
              <a:rPr lang="en-US" sz="1800" dirty="0">
                <a:solidFill>
                  <a:schemeClr val="bg1"/>
                </a:solidFill>
              </a:rPr>
              <a:t> account for $2.14M.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Top-Selling Category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Body Care</a:t>
            </a:r>
            <a:r>
              <a:rPr lang="en-US" sz="1800" dirty="0">
                <a:solidFill>
                  <a:schemeClr val="bg1"/>
                </a:solidFill>
              </a:rPr>
              <a:t> products dominate with </a:t>
            </a:r>
            <a:r>
              <a:rPr lang="en-US" sz="1800" b="1" dirty="0">
                <a:solidFill>
                  <a:schemeClr val="bg1"/>
                </a:solidFill>
              </a:rPr>
              <a:t>$2.68M</a:t>
            </a:r>
            <a:r>
              <a:rPr lang="en-US" sz="1800" dirty="0">
                <a:solidFill>
                  <a:schemeClr val="bg1"/>
                </a:solidFill>
              </a:rPr>
              <a:t>, far ahead of others.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Sales Trends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December</a:t>
            </a:r>
            <a:r>
              <a:rPr lang="en-US" sz="1800" dirty="0">
                <a:solidFill>
                  <a:schemeClr val="bg1"/>
                </a:solidFill>
              </a:rPr>
              <a:t> shows the highest monthly sales (</a:t>
            </a:r>
            <a:r>
              <a:rPr lang="en-US" sz="1800" b="1" dirty="0">
                <a:solidFill>
                  <a:schemeClr val="bg1"/>
                </a:solidFill>
              </a:rPr>
              <a:t>$829K</a:t>
            </a:r>
            <a:r>
              <a:rPr lang="en-US" sz="1800" dirty="0">
                <a:solidFill>
                  <a:schemeClr val="bg1"/>
                </a:solidFill>
              </a:rPr>
              <a:t>), indicating a possible holiday season boost.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Country-Wise Sales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United States</a:t>
            </a:r>
            <a:r>
              <a:rPr lang="en-US" sz="1800" dirty="0">
                <a:solidFill>
                  <a:schemeClr val="bg1"/>
                </a:solidFill>
              </a:rPr>
              <a:t> is the top market (</a:t>
            </a:r>
            <a:r>
              <a:rPr lang="en-US" sz="1800" b="1" dirty="0">
                <a:solidFill>
                  <a:schemeClr val="bg1"/>
                </a:solidFill>
              </a:rPr>
              <a:t>$1.3M+</a:t>
            </a:r>
            <a:r>
              <a:rPr lang="en-US" sz="1800" dirty="0">
                <a:solidFill>
                  <a:schemeClr val="bg1"/>
                </a:solidFill>
              </a:rPr>
              <a:t>) followed by </a:t>
            </a:r>
            <a:r>
              <a:rPr lang="en-US" sz="1800" b="1" dirty="0">
                <a:solidFill>
                  <a:schemeClr val="bg1"/>
                </a:solidFill>
              </a:rPr>
              <a:t>Australia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France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A3689-4F08-07F3-7848-A2EB29A1AC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6A077-0DA4-BBDC-A16E-18937736D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650" y="183117"/>
            <a:ext cx="867327" cy="86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01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D2B89-106E-0869-30C9-D7BF46E61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161912"/>
            <a:ext cx="11795760" cy="40095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Profit Overview</a:t>
            </a:r>
            <a:r>
              <a:rPr lang="en-US" sz="1800" dirty="0">
                <a:solidFill>
                  <a:schemeClr val="bg1"/>
                </a:solidFill>
              </a:rPr>
              <a:t>: Total </a:t>
            </a:r>
            <a:r>
              <a:rPr lang="en-US" sz="1800" b="1" dirty="0">
                <a:solidFill>
                  <a:schemeClr val="bg1"/>
                </a:solidFill>
              </a:rPr>
              <a:t>profit is $1.064M</a:t>
            </a:r>
            <a:r>
              <a:rPr lang="en-US" sz="1800" dirty="0">
                <a:solidFill>
                  <a:schemeClr val="bg1"/>
                </a:solidFill>
              </a:rPr>
              <a:t> with a </a:t>
            </a:r>
            <a:r>
              <a:rPr lang="en-US" sz="1800" b="1" dirty="0">
                <a:solidFill>
                  <a:schemeClr val="bg1"/>
                </a:solidFill>
              </a:rPr>
              <a:t>16.36% margin</a:t>
            </a:r>
            <a:r>
              <a:rPr lang="en-US" sz="1800" dirty="0">
                <a:solidFill>
                  <a:schemeClr val="bg1"/>
                </a:solidFill>
              </a:rPr>
              <a:t> and an </a:t>
            </a:r>
            <a:r>
              <a:rPr lang="en-US" sz="1800" b="1" dirty="0">
                <a:solidFill>
                  <a:schemeClr val="bg1"/>
                </a:solidFill>
              </a:rPr>
              <a:t>average order value (AOV) of $127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Top 5 Best-Selling Products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Herbal Essences Bio</a:t>
            </a:r>
            <a:r>
              <a:rPr lang="en-US" sz="1800" dirty="0">
                <a:solidFill>
                  <a:schemeClr val="bg1"/>
                </a:solidFill>
              </a:rPr>
              <a:t> leads with </a:t>
            </a:r>
            <a:r>
              <a:rPr lang="en-US" sz="1800" b="1" dirty="0">
                <a:solidFill>
                  <a:schemeClr val="bg1"/>
                </a:solidFill>
              </a:rPr>
              <a:t>$65.4K</a:t>
            </a:r>
            <a:r>
              <a:rPr lang="en-US" sz="1800" dirty="0">
                <a:solidFill>
                  <a:schemeClr val="bg1"/>
                </a:solidFill>
              </a:rPr>
              <a:t> in sales.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Top 5 Worst-Selling Products</a:t>
            </a:r>
            <a:r>
              <a:rPr lang="en-US" sz="1800" dirty="0">
                <a:solidFill>
                  <a:schemeClr val="bg1"/>
                </a:solidFill>
              </a:rPr>
              <a:t>: Items like </a:t>
            </a:r>
            <a:r>
              <a:rPr lang="en-US" sz="1800" b="1" dirty="0">
                <a:solidFill>
                  <a:schemeClr val="bg1"/>
                </a:solidFill>
              </a:rPr>
              <a:t>Stile Eyeshadow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Burt’s Bees Lemon</a:t>
            </a:r>
            <a:r>
              <a:rPr lang="en-US" sz="1800" dirty="0">
                <a:solidFill>
                  <a:schemeClr val="bg1"/>
                </a:solidFill>
              </a:rPr>
              <a:t> show very low sales (~$12).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Orders by Marketplace</a:t>
            </a:r>
            <a:r>
              <a:rPr lang="en-US" sz="1800" dirty="0">
                <a:solidFill>
                  <a:schemeClr val="bg1"/>
                </a:solidFill>
              </a:rPr>
              <a:t>: </a:t>
            </a:r>
            <a:r>
              <a:rPr lang="en-US" sz="1800" b="1" dirty="0">
                <a:solidFill>
                  <a:schemeClr val="bg1"/>
                </a:solidFill>
              </a:rPr>
              <a:t>Asia Pacific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USCA</a:t>
            </a:r>
            <a:r>
              <a:rPr lang="en-US" sz="1800" dirty="0">
                <a:solidFill>
                  <a:schemeClr val="bg1"/>
                </a:solidFill>
              </a:rPr>
              <a:t> have the highest number of orders (~10K+ each).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bg1"/>
                </a:solidFill>
              </a:rPr>
              <a:t>Discount vs Profitability</a:t>
            </a:r>
            <a:r>
              <a:rPr lang="en-US" sz="1800" dirty="0">
                <a:solidFill>
                  <a:schemeClr val="bg1"/>
                </a:solidFill>
              </a:rPr>
              <a:t>: Minimal correlation is seen—higher discounts do </a:t>
            </a:r>
            <a:r>
              <a:rPr lang="en-US" sz="1800" b="1" dirty="0">
                <a:solidFill>
                  <a:schemeClr val="bg1"/>
                </a:solidFill>
              </a:rPr>
              <a:t>not consistently drive higher profits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8A703-283C-7E31-18D6-E5841E868DD8}"/>
              </a:ext>
            </a:extLst>
          </p:cNvPr>
          <p:cNvSpPr txBox="1"/>
          <p:nvPr/>
        </p:nvSpPr>
        <p:spPr>
          <a:xfrm>
            <a:off x="554327" y="573787"/>
            <a:ext cx="84507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B0F0"/>
                </a:solidFill>
              </a:rPr>
              <a:t>Key Insights from Dashboard 2: Product Performance &amp; Profitability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921AE7-13B4-56E6-85AD-202DBF6442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158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8F96-DBB8-7159-B99B-0BF17572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194" y="194299"/>
            <a:ext cx="8525954" cy="596084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Strategic Recommendations for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175AC-E934-D13F-B3C2-A40B17EE1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996146"/>
            <a:ext cx="11968480" cy="536951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/>
              <a:t>Scale High-Performing Market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Increase inventory and promotions in </a:t>
            </a:r>
            <a:r>
              <a:rPr lang="en-US" sz="1800" b="1" dirty="0">
                <a:solidFill>
                  <a:schemeClr val="bg1"/>
                </a:solidFill>
              </a:rPr>
              <a:t>Africa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b="1" dirty="0">
                <a:solidFill>
                  <a:schemeClr val="bg1"/>
                </a:solidFill>
              </a:rPr>
              <a:t>LATAM</a:t>
            </a:r>
            <a:r>
              <a:rPr lang="en-US" sz="1800" dirty="0">
                <a:solidFill>
                  <a:schemeClr val="bg1"/>
                </a:solidFill>
              </a:rPr>
              <a:t>, and </a:t>
            </a:r>
            <a:r>
              <a:rPr lang="en-US" sz="1800" b="1" dirty="0">
                <a:solidFill>
                  <a:schemeClr val="bg1"/>
                </a:solidFill>
              </a:rPr>
              <a:t>US cities</a:t>
            </a:r>
            <a:r>
              <a:rPr lang="en-US" sz="1800" dirty="0">
                <a:solidFill>
                  <a:schemeClr val="bg1"/>
                </a:solidFill>
              </a:rPr>
              <a:t> like NYC and LA.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Expand partnerships with retailers in top regions.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/>
              <a:t>Revamp or Phase Out Low-Selling Products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Review poor performers (e.g., Stila Eyeshadow, Burt’s Bees Lemon) for delisting or repositioning.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Focus R&amp;D on expanding best-performing lines like </a:t>
            </a:r>
            <a:r>
              <a:rPr lang="en-US" sz="1800" b="1" dirty="0">
                <a:solidFill>
                  <a:schemeClr val="bg1"/>
                </a:solidFill>
              </a:rPr>
              <a:t>shampoos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body care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/>
              <a:t>Segment-Based Targeting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Design loyalty programs and bundles tailored to </a:t>
            </a:r>
            <a:r>
              <a:rPr lang="en-US" sz="1800" b="1" dirty="0">
                <a:solidFill>
                  <a:schemeClr val="bg1"/>
                </a:solidFill>
              </a:rPr>
              <a:t>Corporate</a:t>
            </a:r>
            <a:r>
              <a:rPr lang="en-US" sz="1800" dirty="0">
                <a:solidFill>
                  <a:schemeClr val="bg1"/>
                </a:solidFill>
              </a:rPr>
              <a:t> buyers.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Run targeted campaigns to uplift </a:t>
            </a:r>
            <a:r>
              <a:rPr lang="en-US" sz="1800" b="1" dirty="0">
                <a:solidFill>
                  <a:schemeClr val="bg1"/>
                </a:solidFill>
              </a:rPr>
              <a:t>Consumer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b="1" dirty="0">
                <a:solidFill>
                  <a:schemeClr val="bg1"/>
                </a:solidFill>
              </a:rPr>
              <a:t>Home Office</a:t>
            </a:r>
            <a:r>
              <a:rPr lang="en-US" sz="1800" dirty="0">
                <a:solidFill>
                  <a:schemeClr val="bg1"/>
                </a:solidFill>
              </a:rPr>
              <a:t> segments.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/>
              <a:t>Seasonal Promotion Planning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Capitalize on </a:t>
            </a:r>
            <a:r>
              <a:rPr lang="en-US" sz="1800" b="1" dirty="0">
                <a:solidFill>
                  <a:schemeClr val="bg1"/>
                </a:solidFill>
              </a:rPr>
              <a:t>Q4 peak sales</a:t>
            </a:r>
            <a:r>
              <a:rPr lang="en-US" sz="1800" dirty="0">
                <a:solidFill>
                  <a:schemeClr val="bg1"/>
                </a:solidFill>
              </a:rPr>
              <a:t> with pre-planned campaigns from October onwards.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Launch holiday bundles and limited editions.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1800" b="1" dirty="0"/>
              <a:t>Optimize Discounting Strategy</a:t>
            </a:r>
            <a:endParaRPr lang="en-US" sz="1800" dirty="0"/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Avoid blanket discounts; test with A/B pricing.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Promote value-based pricing and loyalty rewards to improve profit margins.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09C83E-DFF0-59BA-A045-C8349E85EE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760E0-81CA-476C-B1DB-ADBCEFC1D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423" y="4558982"/>
            <a:ext cx="2747177" cy="217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87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9BB3-FC72-629A-F0C6-04EAD0A4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F0D87C-0723-DB50-7508-7CB82C1D18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0246D3-D530-E85F-437C-8F5CCC129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60" y="844420"/>
            <a:ext cx="12028539" cy="45239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Using Excel VBA, this project automates the creation of a </a:t>
            </a:r>
            <a:r>
              <a:rPr lang="en-US" sz="1800" b="1" dirty="0">
                <a:solidFill>
                  <a:schemeClr val="bg1"/>
                </a:solidFill>
              </a:rPr>
              <a:t>one-page E-Commerce MIS Report</a:t>
            </a:r>
            <a:r>
              <a:rPr lang="en-US" sz="1800" dirty="0">
                <a:solidFill>
                  <a:schemeClr val="bg1"/>
                </a:solidFill>
              </a:rPr>
              <a:t>, enabling quick Daily, Weekly, and Monthly performance insights with a single click.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the Report Includes</a:t>
            </a:r>
            <a:br>
              <a:rPr lang="en-US" sz="1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br>
              <a:rPr lang="en-US" sz="1800" b="1" dirty="0"/>
            </a:br>
            <a:r>
              <a:rPr lang="en-US" sz="1800" b="1" dirty="0"/>
              <a:t>Sales Overview: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Total Sales, Quantity, Customers, Avg. Discount</a:t>
            </a:r>
          </a:p>
          <a:p>
            <a:pPr marL="0" indent="0">
              <a:buNone/>
            </a:pPr>
            <a:r>
              <a:rPr lang="en-US" sz="1800" b="1" dirty="0"/>
              <a:t>Market Performance: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Top Markets, Top Cities, Customer Segments</a:t>
            </a:r>
          </a:p>
          <a:p>
            <a:pPr marL="0" indent="0">
              <a:buNone/>
            </a:pPr>
            <a:r>
              <a:rPr lang="en-US" sz="1800" b="1" dirty="0"/>
              <a:t>Product Performance: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1"/>
                </a:solidFill>
              </a:rPr>
              <a:t>Profit, Profit Margin, AOV, Top &amp; Worst-Selling Products, Top Categories</a:t>
            </a:r>
            <a:br>
              <a:rPr lang="en-US" sz="1800" dirty="0">
                <a:solidFill>
                  <a:schemeClr val="bg1"/>
                </a:solidFill>
              </a:rPr>
            </a:br>
            <a:endParaRPr lang="en-US" sz="18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Key Benefits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One-click Daily / Weekly / Monthly report buttons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Clean, formatted output (no raw data shown)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Consistent layout, reduced manual effort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Works for any dataset via dynamic calculations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1B0F248-D766-6656-B42F-AD97FAB02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041" y="109057"/>
            <a:ext cx="7498940" cy="62421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 Automation for Summary Report</a:t>
            </a:r>
            <a:endParaRPr lang="en-IN" b="1" dirty="0">
              <a:solidFill>
                <a:schemeClr val="accent1">
                  <a:lumMod val="20000"/>
                  <a:lumOff val="8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6" name="TextBox 5">
            <a:hlinkClick r:id="rId3"/>
            <a:extLst>
              <a:ext uri="{FF2B5EF4-FFF2-40B4-BE49-F238E27FC236}">
                <a16:creationId xmlns:a16="http://schemas.microsoft.com/office/drawing/2014/main" id="{6976F361-1441-D0FB-7207-454FE0F03D34}"/>
              </a:ext>
            </a:extLst>
          </p:cNvPr>
          <p:cNvSpPr txBox="1"/>
          <p:nvPr/>
        </p:nvSpPr>
        <p:spPr>
          <a:xfrm>
            <a:off x="5235677" y="5559934"/>
            <a:ext cx="2025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View VBA 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C9E6B-13E5-70FF-F797-FA3EF6BF8392}"/>
              </a:ext>
            </a:extLst>
          </p:cNvPr>
          <p:cNvSpPr txBox="1"/>
          <p:nvPr/>
        </p:nvSpPr>
        <p:spPr>
          <a:xfrm>
            <a:off x="3401961" y="5590712"/>
            <a:ext cx="1327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Link</a:t>
            </a:r>
            <a:r>
              <a:rPr lang="en-IN" dirty="0"/>
              <a:t> 🔗 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8C8B407-E3B0-B96C-5B11-4FF515E98B19}"/>
              </a:ext>
            </a:extLst>
          </p:cNvPr>
          <p:cNvSpPr/>
          <p:nvPr/>
        </p:nvSpPr>
        <p:spPr>
          <a:xfrm>
            <a:off x="4640826" y="5646270"/>
            <a:ext cx="521110" cy="272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834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1591</Words>
  <Application>Microsoft Office PowerPoint</Application>
  <PresentationFormat>Widescreen</PresentationFormat>
  <Paragraphs>190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Unicode MS</vt:lpstr>
      <vt:lpstr>Calibri</vt:lpstr>
      <vt:lpstr>Calibri Light</vt:lpstr>
      <vt:lpstr>Candara</vt:lpstr>
      <vt:lpstr>Elephant</vt:lpstr>
      <vt:lpstr>Franklin Gothic Medium</vt:lpstr>
      <vt:lpstr>Wingdings</vt:lpstr>
      <vt:lpstr>Office Theme</vt:lpstr>
      <vt:lpstr>E-Commerce Sales Analysis </vt:lpstr>
      <vt:lpstr>PowerPoint Presentation</vt:lpstr>
      <vt:lpstr>Project Goal</vt:lpstr>
      <vt:lpstr>Data Overview</vt:lpstr>
      <vt:lpstr>PowerPoint Presentation</vt:lpstr>
      <vt:lpstr>PowerPoint Presentation</vt:lpstr>
      <vt:lpstr>Data Analysis with Essential Excel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Data-Driven Observations</vt:lpstr>
      <vt:lpstr>PowerPoint Presentation</vt:lpstr>
      <vt:lpstr>Strategic Recommendations for Growth</vt:lpstr>
      <vt:lpstr> Automation for Summary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 Jade</dc:creator>
  <cp:lastModifiedBy>Neha Jade</cp:lastModifiedBy>
  <cp:revision>73</cp:revision>
  <dcterms:created xsi:type="dcterms:W3CDTF">2025-04-23T18:24:22Z</dcterms:created>
  <dcterms:modified xsi:type="dcterms:W3CDTF">2025-12-02T05:58:35Z</dcterms:modified>
</cp:coreProperties>
</file>